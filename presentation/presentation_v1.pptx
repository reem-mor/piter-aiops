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7" autoAdjust="0"/>
  </p:normalViewPr>
  <p:slideViewPr>
    <p:cSldViewPr snapToGrid="0" snapToObjects="1">
      <p:cViewPr varScale="1">
        <p:scale>
          <a:sx n="111" d="100"/>
          <a:sy n="111" d="100"/>
        </p:scale>
        <p:origin x="393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433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6892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5622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0819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hf sldNum="0" hdr="0" ftr="0" dt="0"/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defTabSz="685800" rtl="0" eaLnBrk="1" latinLnBrk="0" hangingPunct="1">
        <a:spcBef>
          <a:spcPct val="20000"/>
        </a:spcBef>
        <a:buFont typeface="Arial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5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13.png"/><Relationship Id="rId5" Type="http://schemas.openxmlformats.org/officeDocument/2006/relationships/image" Target="../media/image20.png"/><Relationship Id="rId10" Type="http://schemas.openxmlformats.org/officeDocument/2006/relationships/image" Target="../media/image12.png"/><Relationship Id="rId4" Type="http://schemas.openxmlformats.org/officeDocument/2006/relationships/image" Target="../media/image19.png"/><Relationship Id="rId9" Type="http://schemas.openxmlformats.org/officeDocument/2006/relationships/image" Target="../media/image8.png"/><Relationship Id="rId14" Type="http://schemas.openxmlformats.org/officeDocument/2006/relationships/image" Target="../media/image2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396718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   ·   1 / 7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438912"/>
            <a:ext cx="237744" cy="2377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13232" y="384048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Hi, I'm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65760" y="749808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8EE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Re'em Mor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65760" y="15727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 AI Engineer @ Amdocs, Specialist Production Operations Analyst NOC / SRE</a:t>
            </a:r>
            <a:endParaRPr lang="en-US" sz="1400" dirty="0"/>
          </a:p>
          <a:p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888 Holdings (Evoke) · regulated multi-jurisdiction production environments</a:t>
            </a:r>
          </a:p>
        </p:txBody>
      </p:sp>
      <p:sp>
        <p:nvSpPr>
          <p:cNvPr id="8" name="Text 5"/>
          <p:cNvSpPr/>
          <p:nvPr/>
        </p:nvSpPr>
        <p:spPr>
          <a:xfrm>
            <a:off x="365760" y="2395728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engineer with 2+ years experience in production operations. </a:t>
            </a:r>
            <a:r>
              <a:rPr lang="en-US" sz="13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turn daily operational pain into software: automating workflows, optimizing internal tooling, and shipping multi-agent systems with n8n and Claude Code.</a:t>
            </a:r>
          </a:p>
        </p:txBody>
      </p:sp>
      <p:sp>
        <p:nvSpPr>
          <p:cNvPr id="9" name="Text 6"/>
          <p:cNvSpPr/>
          <p:nvPr/>
        </p:nvSpPr>
        <p:spPr>
          <a:xfrm>
            <a:off x="365760" y="39852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riority · </a:t>
            </a: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nvestigation · </a:t>
            </a: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riage · </a:t>
            </a: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scalation · </a:t>
            </a: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esolution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193792" y="502920"/>
            <a:ext cx="3566160" cy="3931920"/>
          </a:xfrm>
          <a:prstGeom prst="roundRect">
            <a:avLst>
              <a:gd name="adj" fmla="val 1538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0680" y="804672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852160" y="722376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institution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852159" y="978408"/>
            <a:ext cx="160020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Open University, B.Sc. Computer Science · </a:t>
            </a:r>
            <a:r>
              <a:rPr lang="en-US" sz="1050" b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91</a:t>
            </a:r>
            <a:endParaRPr lang="en-US" sz="1050" b="1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1709928"/>
            <a:ext cx="256032" cy="25603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52160" y="162763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job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852160" y="1883664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2+ years of experience supporting production databases and infrastructure in regulated, multi-region environments.</a:t>
            </a:r>
          </a:p>
          <a:p>
            <a:pPr marL="0" indent="0">
              <a:buNone/>
            </a:pPr>
            <a:endParaRPr lang="en-US" sz="10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0680" y="2615184"/>
            <a:ext cx="256032" cy="25603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852160" y="25328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852160" y="2788920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pain I lived daily: alert floods, slow triage, inconsistent escalation</a:t>
            </a:r>
            <a:r>
              <a:rPr lang="en-US" sz="1050" dirty="0"/>
              <a:t>.</a:t>
            </a:r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40680" y="3520440"/>
            <a:ext cx="256032" cy="25603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852160" y="34381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note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852160" y="3694176"/>
            <a:ext cx="2788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 turning messy operational knowledge into tools the whole team can use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  ·   2 /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E8EE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PITER AI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365760" y="84124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Ops - Turning production alerts into faster, smarter incident response.</a:t>
            </a:r>
          </a:p>
          <a:p>
            <a:pPr marL="0" indent="0">
              <a:buNone/>
            </a:pP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0" y="45720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 → structured answer out, </a:t>
            </a:r>
            <a:r>
              <a:rPr lang="en-US" sz="11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seconds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114800" cy="1389888"/>
          </a:xfrm>
          <a:prstGeom prst="roundRect">
            <a:avLst>
              <a:gd name="adj" fmla="val 3947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3619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4904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548640" y="18745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NOC and SRE teams drown in alerts. Triage is manual, slow, and depends on tribal knowledge. During a P1–P3 incident, every minute of confusion costs revenue, and in regulated environments, compliance exposure.</a:t>
            </a:r>
          </a:p>
        </p:txBody>
      </p:sp>
      <p:sp>
        <p:nvSpPr>
          <p:cNvPr id="11" name="Shape 8"/>
          <p:cNvSpPr/>
          <p:nvPr/>
        </p:nvSpPr>
        <p:spPr>
          <a:xfrm>
            <a:off x="4663440" y="1371600"/>
            <a:ext cx="4114800" cy="1389888"/>
          </a:xfrm>
          <a:prstGeom prst="roundRect">
            <a:avLst>
              <a:gd name="adj" fmla="val 3947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536192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57800" y="1490472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46320" y="1874520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analysts and SREs in regulated environments and enterprise companies who need fast, consistent, auditable incident handling.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65760" y="2907792"/>
            <a:ext cx="4114800" cy="1389888"/>
          </a:xfrm>
          <a:prstGeom prst="roundRect">
            <a:avLst>
              <a:gd name="adj" fmla="val 3947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072384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60120" y="30266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48640" y="3410712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Bedrock agent receives the alert, retrieves runbooks and incident history via RAG, calls enrichment tools, and returns a structured PITER response: priority, investigation steps, triage, escalation, resolution.</a:t>
            </a:r>
          </a:p>
        </p:txBody>
      </p:sp>
      <p:sp>
        <p:nvSpPr>
          <p:cNvPr id="19" name="Shape 14"/>
          <p:cNvSpPr/>
          <p:nvPr/>
        </p:nvSpPr>
        <p:spPr>
          <a:xfrm>
            <a:off x="4663440" y="2907792"/>
            <a:ext cx="4114800" cy="1389888"/>
          </a:xfrm>
          <a:prstGeom prst="roundRect">
            <a:avLst>
              <a:gd name="adj" fmla="val 3947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072384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257800" y="3026664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useful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846320" y="3236976"/>
            <a:ext cx="37490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MTTR, consistent escalation policy, a built-in audit trail — and a knowledge base that gets smarter with every incident.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365760" y="4425696"/>
            <a:ext cx="8412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= </a:t>
            </a: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  ·   3 /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E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8229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course requirement, mapped to a real role in the system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1408176"/>
            <a:ext cx="274320" cy="274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77824" y="13716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Flask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12064" y="1719072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API, session routing, agent orchestration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18688" y="1261872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4992" y="1408176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30752" y="13716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364992" y="1719072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NOC console - live alert stream + agent chat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071616" y="1261872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1408176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583680" y="1371600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Agent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6217920" y="1719072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Lite reasoning core + Guardrails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365760" y="2432304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" y="2578608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7824" y="254203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knowledge base</a:t>
            </a:r>
            <a:endParaRPr lang="en-US" sz="1250" dirty="0"/>
          </a:p>
        </p:txBody>
      </p:sp>
      <p:sp>
        <p:nvSpPr>
          <p:cNvPr id="21" name="Text 15"/>
          <p:cNvSpPr/>
          <p:nvPr/>
        </p:nvSpPr>
        <p:spPr>
          <a:xfrm>
            <a:off x="512064" y="288950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Runbooks &amp; docs over S3 Vectors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218688" y="2432304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4992" y="2578608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730752" y="254203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MCP-style tools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3364992" y="288950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Lambda action groups: deployments, service context, incidents, escalation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6071616" y="2432304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7920" y="2578608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583680" y="2542032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/ SES</a:t>
            </a:r>
            <a:endParaRPr lang="en-US" sz="1250" dirty="0"/>
          </a:p>
        </p:txBody>
      </p:sp>
      <p:sp>
        <p:nvSpPr>
          <p:cNvPr id="29" name="Text 21"/>
          <p:cNvSpPr/>
          <p:nvPr/>
        </p:nvSpPr>
        <p:spPr>
          <a:xfrm>
            <a:off x="6217920" y="2889504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Guarded escalation - preview-before-send P1 alerts via SMS + email.</a:t>
            </a:r>
          </a:p>
        </p:txBody>
      </p:sp>
      <p:sp>
        <p:nvSpPr>
          <p:cNvPr id="30" name="Shape 22"/>
          <p:cNvSpPr/>
          <p:nvPr/>
        </p:nvSpPr>
        <p:spPr>
          <a:xfrm>
            <a:off x="365760" y="3602736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" y="3749040"/>
            <a:ext cx="274320" cy="274320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877824" y="371246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· CSV/JSON</a:t>
            </a:r>
            <a:endParaRPr lang="en-US" sz="1250" dirty="0"/>
          </a:p>
        </p:txBody>
      </p:sp>
      <p:sp>
        <p:nvSpPr>
          <p:cNvPr id="33" name="Text 24"/>
          <p:cNvSpPr/>
          <p:nvPr/>
        </p:nvSpPr>
        <p:spPr>
          <a:xfrm>
            <a:off x="512064" y="405993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ops dataset, owners, on-call, priority matrix, deploy history.</a:t>
            </a:r>
          </a:p>
        </p:txBody>
      </p:sp>
      <p:sp>
        <p:nvSpPr>
          <p:cNvPr id="34" name="Shape 25"/>
          <p:cNvSpPr/>
          <p:nvPr/>
        </p:nvSpPr>
        <p:spPr>
          <a:xfrm>
            <a:off x="3218688" y="3602736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364992" y="3749040"/>
            <a:ext cx="274320" cy="27432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730752" y="371246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50" dirty="0"/>
          </a:p>
        </p:txBody>
      </p:sp>
      <p:sp>
        <p:nvSpPr>
          <p:cNvPr id="37" name="Text 27"/>
          <p:cNvSpPr/>
          <p:nvPr/>
        </p:nvSpPr>
        <p:spPr>
          <a:xfrm>
            <a:off x="3364992" y="405993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local run of the full stack</a:t>
            </a:r>
            <a:endParaRPr lang="en-US" sz="1000" dirty="0"/>
          </a:p>
        </p:txBody>
      </p:sp>
      <p:sp>
        <p:nvSpPr>
          <p:cNvPr id="38" name="Shape 28"/>
          <p:cNvSpPr/>
          <p:nvPr/>
        </p:nvSpPr>
        <p:spPr>
          <a:xfrm>
            <a:off x="6071616" y="3602736"/>
            <a:ext cx="2706624" cy="1078992"/>
          </a:xfrm>
          <a:prstGeom prst="roundRect">
            <a:avLst>
              <a:gd name="adj" fmla="val 5085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17920" y="3749040"/>
            <a:ext cx="274320" cy="274320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583680" y="3712464"/>
            <a:ext cx="20665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250" dirty="0"/>
          </a:p>
        </p:txBody>
      </p:sp>
      <p:sp>
        <p:nvSpPr>
          <p:cNvPr id="41" name="Text 30"/>
          <p:cNvSpPr/>
          <p:nvPr/>
        </p:nvSpPr>
        <p:spPr>
          <a:xfrm>
            <a:off x="6217920" y="4059936"/>
            <a:ext cx="24140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repo, branches, README, CI patterns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  ·   4 /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19456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8EE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035040" y="3840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i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in → resolution out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Intake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121408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Backend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77056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PITER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632704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AI core — Bedrock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88352" y="841248"/>
            <a:ext cx="1572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Output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920240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598A"/>
                </a:solidFill>
              </a:rPr>
              <a:t>▶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75888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598A"/>
                </a:solidFill>
              </a:rPr>
              <a:t>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31536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598A"/>
                </a:solidFill>
              </a:rPr>
              <a:t>▶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87184" y="2331720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6598A"/>
                </a:solidFill>
              </a:rPr>
              <a:t>▶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152144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43584"/>
            <a:ext cx="219456" cy="219456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49808" y="11978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/ SRE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749808" y="14813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alert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365760" y="2103120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194560"/>
            <a:ext cx="219456" cy="219456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49808" y="2148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dashboard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749808" y="24323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· chat</a:t>
            </a:r>
            <a:endParaRPr lang="en-US" sz="850" dirty="0"/>
          </a:p>
        </p:txBody>
      </p:sp>
      <p:sp>
        <p:nvSpPr>
          <p:cNvPr id="23" name="Shape 19"/>
          <p:cNvSpPr/>
          <p:nvPr/>
        </p:nvSpPr>
        <p:spPr>
          <a:xfrm>
            <a:off x="365760" y="3054096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45536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749808" y="30998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749808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850" dirty="0"/>
          </a:p>
        </p:txBody>
      </p:sp>
      <p:sp>
        <p:nvSpPr>
          <p:cNvPr id="27" name="Shape 22"/>
          <p:cNvSpPr/>
          <p:nvPr/>
        </p:nvSpPr>
        <p:spPr>
          <a:xfrm>
            <a:off x="2121408" y="1152144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12848" y="1243584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2505456" y="11978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2505456" y="14813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context</a:t>
            </a:r>
            <a:endParaRPr lang="en-US" sz="850" dirty="0"/>
          </a:p>
        </p:txBody>
      </p:sp>
      <p:sp>
        <p:nvSpPr>
          <p:cNvPr id="31" name="Shape 25"/>
          <p:cNvSpPr/>
          <p:nvPr/>
        </p:nvSpPr>
        <p:spPr>
          <a:xfrm>
            <a:off x="2121408" y="2103120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12848" y="2194560"/>
            <a:ext cx="219456" cy="21945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2505456" y="2148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</a:t>
            </a:r>
            <a:endParaRPr lang="en-US" sz="1000" dirty="0"/>
          </a:p>
        </p:txBody>
      </p:sp>
      <p:sp>
        <p:nvSpPr>
          <p:cNvPr id="34" name="Text 27"/>
          <p:cNvSpPr/>
          <p:nvPr/>
        </p:nvSpPr>
        <p:spPr>
          <a:xfrm>
            <a:off x="2505456" y="24323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· fallback</a:t>
            </a:r>
            <a:endParaRPr lang="en-US" sz="850" dirty="0"/>
          </a:p>
        </p:txBody>
      </p:sp>
      <p:sp>
        <p:nvSpPr>
          <p:cNvPr id="35" name="Shape 28"/>
          <p:cNvSpPr/>
          <p:nvPr/>
        </p:nvSpPr>
        <p:spPr>
          <a:xfrm>
            <a:off x="2121408" y="3054096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12848" y="3145536"/>
            <a:ext cx="219456" cy="219456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2505456" y="30998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boto3 runtime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2505456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invoke_agent</a:t>
            </a:r>
            <a:endParaRPr lang="en-US" sz="850" dirty="0"/>
          </a:p>
        </p:txBody>
      </p:sp>
      <p:sp>
        <p:nvSpPr>
          <p:cNvPr id="39" name="Shape 31"/>
          <p:cNvSpPr/>
          <p:nvPr/>
        </p:nvSpPr>
        <p:spPr>
          <a:xfrm>
            <a:off x="3877056" y="1152144"/>
            <a:ext cx="1572768" cy="475488"/>
          </a:xfrm>
          <a:prstGeom prst="roundRect">
            <a:avLst>
              <a:gd name="adj" fmla="val 9615"/>
            </a:avLst>
          </a:prstGeom>
          <a:solidFill>
            <a:srgbClr val="0B2A33"/>
          </a:solidFill>
          <a:ln w="952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2"/>
          <p:cNvSpPr/>
          <p:nvPr/>
        </p:nvSpPr>
        <p:spPr>
          <a:xfrm>
            <a:off x="3877056" y="1152144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3877056" y="1737360"/>
            <a:ext cx="1572768" cy="475488"/>
          </a:xfrm>
          <a:prstGeom prst="roundRect">
            <a:avLst>
              <a:gd name="adj" fmla="val 9615"/>
            </a:avLst>
          </a:prstGeom>
          <a:solidFill>
            <a:srgbClr val="0E2244"/>
          </a:solidFill>
          <a:ln w="952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4"/>
          <p:cNvSpPr/>
          <p:nvPr/>
        </p:nvSpPr>
        <p:spPr>
          <a:xfrm>
            <a:off x="3877056" y="1737360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3877056" y="2322576"/>
            <a:ext cx="1572768" cy="475488"/>
          </a:xfrm>
          <a:prstGeom prst="roundRect">
            <a:avLst>
              <a:gd name="adj" fmla="val 9615"/>
            </a:avLst>
          </a:prstGeom>
          <a:solidFill>
            <a:srgbClr val="221A40"/>
          </a:solidFill>
          <a:ln w="952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36"/>
          <p:cNvSpPr/>
          <p:nvPr/>
        </p:nvSpPr>
        <p:spPr>
          <a:xfrm>
            <a:off x="3877056" y="2322576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050" dirty="0"/>
          </a:p>
        </p:txBody>
      </p:sp>
      <p:sp>
        <p:nvSpPr>
          <p:cNvPr id="45" name="Shape 37"/>
          <p:cNvSpPr/>
          <p:nvPr/>
        </p:nvSpPr>
        <p:spPr>
          <a:xfrm>
            <a:off x="3877056" y="2907792"/>
            <a:ext cx="1572768" cy="475488"/>
          </a:xfrm>
          <a:prstGeom prst="roundRect">
            <a:avLst>
              <a:gd name="adj" fmla="val 9615"/>
            </a:avLst>
          </a:prstGeom>
          <a:solidFill>
            <a:srgbClr val="33240B"/>
          </a:solidFill>
          <a:ln w="952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3877056" y="2907792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050" dirty="0"/>
          </a:p>
        </p:txBody>
      </p:sp>
      <p:sp>
        <p:nvSpPr>
          <p:cNvPr id="47" name="Shape 39"/>
          <p:cNvSpPr/>
          <p:nvPr/>
        </p:nvSpPr>
        <p:spPr>
          <a:xfrm>
            <a:off x="3877056" y="3493008"/>
            <a:ext cx="1572768" cy="475488"/>
          </a:xfrm>
          <a:prstGeom prst="roundRect">
            <a:avLst>
              <a:gd name="adj" fmla="val 9615"/>
            </a:avLst>
          </a:prstGeom>
          <a:solidFill>
            <a:srgbClr val="0C2B20"/>
          </a:solidFill>
          <a:ln w="9525">
            <a:solidFill>
              <a:srgbClr val="34D39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0"/>
          <p:cNvSpPr/>
          <p:nvPr/>
        </p:nvSpPr>
        <p:spPr>
          <a:xfrm>
            <a:off x="3877056" y="3493008"/>
            <a:ext cx="157276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</a:t>
            </a:r>
            <a:endParaRPr lang="en-US" sz="1050" dirty="0"/>
          </a:p>
        </p:txBody>
      </p:sp>
      <p:sp>
        <p:nvSpPr>
          <p:cNvPr id="49" name="Shape 41"/>
          <p:cNvSpPr/>
          <p:nvPr/>
        </p:nvSpPr>
        <p:spPr>
          <a:xfrm>
            <a:off x="5577840" y="1097280"/>
            <a:ext cx="1682496" cy="2871216"/>
          </a:xfrm>
          <a:prstGeom prst="roundRect">
            <a:avLst>
              <a:gd name="adj" fmla="val 4348"/>
            </a:avLst>
          </a:prstGeom>
          <a:solidFill>
            <a:srgbClr val="0D1126"/>
          </a:solidFill>
          <a:ln w="12700">
            <a:solidFill>
              <a:srgbClr val="4C3E8F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2"/>
          <p:cNvSpPr/>
          <p:nvPr/>
        </p:nvSpPr>
        <p:spPr>
          <a:xfrm>
            <a:off x="5632704" y="1207008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4C3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724144" y="1298448"/>
            <a:ext cx="219456" cy="219456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6016752" y="125272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agent</a:t>
            </a:r>
            <a:endParaRPr lang="en-US" sz="1000" dirty="0"/>
          </a:p>
        </p:txBody>
      </p:sp>
      <p:sp>
        <p:nvSpPr>
          <p:cNvPr id="53" name="Text 44"/>
          <p:cNvSpPr/>
          <p:nvPr/>
        </p:nvSpPr>
        <p:spPr>
          <a:xfrm>
            <a:off x="6016752" y="153619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Lite + Guardrails</a:t>
            </a:r>
            <a:endParaRPr lang="en-US" sz="850" dirty="0"/>
          </a:p>
        </p:txBody>
      </p:sp>
      <p:sp>
        <p:nvSpPr>
          <p:cNvPr id="54" name="Shape 45"/>
          <p:cNvSpPr/>
          <p:nvPr/>
        </p:nvSpPr>
        <p:spPr>
          <a:xfrm>
            <a:off x="5632704" y="2157984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4C3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24144" y="2249424"/>
            <a:ext cx="219456" cy="219456"/>
          </a:xfrm>
          <a:prstGeom prst="rect">
            <a:avLst/>
          </a:prstGeom>
        </p:spPr>
      </p:pic>
      <p:sp>
        <p:nvSpPr>
          <p:cNvPr id="56" name="Text 46"/>
          <p:cNvSpPr/>
          <p:nvPr/>
        </p:nvSpPr>
        <p:spPr>
          <a:xfrm>
            <a:off x="6016752" y="22037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base</a:t>
            </a:r>
            <a:endParaRPr lang="en-US" sz="1000" dirty="0"/>
          </a:p>
        </p:txBody>
      </p:sp>
      <p:sp>
        <p:nvSpPr>
          <p:cNvPr id="57" name="Text 47"/>
          <p:cNvSpPr/>
          <p:nvPr/>
        </p:nvSpPr>
        <p:spPr>
          <a:xfrm>
            <a:off x="6016752" y="248716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· docs + CSV/JSON</a:t>
            </a:r>
            <a:endParaRPr lang="en-US" sz="850" dirty="0"/>
          </a:p>
        </p:txBody>
      </p:sp>
      <p:sp>
        <p:nvSpPr>
          <p:cNvPr id="58" name="Shape 48"/>
          <p:cNvSpPr/>
          <p:nvPr/>
        </p:nvSpPr>
        <p:spPr>
          <a:xfrm>
            <a:off x="5632704" y="3108960"/>
            <a:ext cx="1572768" cy="768096"/>
          </a:xfrm>
          <a:prstGeom prst="roundRect">
            <a:avLst>
              <a:gd name="adj" fmla="val 7143"/>
            </a:avLst>
          </a:prstGeom>
          <a:solidFill>
            <a:srgbClr val="111A2E"/>
          </a:solidFill>
          <a:ln w="9525">
            <a:solidFill>
              <a:srgbClr val="4C3E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9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24144" y="3200400"/>
            <a:ext cx="219456" cy="219456"/>
          </a:xfrm>
          <a:prstGeom prst="rect">
            <a:avLst/>
          </a:prstGeom>
        </p:spPr>
      </p:pic>
      <p:sp>
        <p:nvSpPr>
          <p:cNvPr id="60" name="Text 49"/>
          <p:cNvSpPr/>
          <p:nvPr/>
        </p:nvSpPr>
        <p:spPr>
          <a:xfrm>
            <a:off x="6016752" y="315468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Lambda action groups</a:t>
            </a:r>
            <a:endParaRPr lang="en-US" sz="1000" dirty="0"/>
          </a:p>
        </p:txBody>
      </p:sp>
      <p:sp>
        <p:nvSpPr>
          <p:cNvPr id="61" name="Text 50"/>
          <p:cNvSpPr/>
          <p:nvPr/>
        </p:nvSpPr>
        <p:spPr>
          <a:xfrm>
            <a:off x="6016752" y="3438144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MCP-style actions</a:t>
            </a:r>
            <a:endParaRPr lang="en-US" sz="850" dirty="0"/>
          </a:p>
        </p:txBody>
      </p:sp>
      <p:sp>
        <p:nvSpPr>
          <p:cNvPr id="62" name="Shape 51"/>
          <p:cNvSpPr/>
          <p:nvPr/>
        </p:nvSpPr>
        <p:spPr>
          <a:xfrm>
            <a:off x="7388352" y="1152144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7A4A0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3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479792" y="1243584"/>
            <a:ext cx="219456" cy="219456"/>
          </a:xfrm>
          <a:prstGeom prst="rect">
            <a:avLst/>
          </a:prstGeom>
        </p:spPr>
      </p:pic>
      <p:sp>
        <p:nvSpPr>
          <p:cNvPr id="64" name="Text 52"/>
          <p:cNvSpPr/>
          <p:nvPr/>
        </p:nvSpPr>
        <p:spPr>
          <a:xfrm>
            <a:off x="7772400" y="119786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/ SES</a:t>
            </a:r>
            <a:endParaRPr lang="en-US" sz="1000" dirty="0"/>
          </a:p>
        </p:txBody>
      </p:sp>
      <p:sp>
        <p:nvSpPr>
          <p:cNvPr id="65" name="Text 53"/>
          <p:cNvSpPr/>
          <p:nvPr/>
        </p:nvSpPr>
        <p:spPr>
          <a:xfrm>
            <a:off x="7772400" y="1481328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· Notify on-call · SMS/Email</a:t>
            </a:r>
          </a:p>
        </p:txBody>
      </p:sp>
      <p:sp>
        <p:nvSpPr>
          <p:cNvPr id="66" name="Shape 54"/>
          <p:cNvSpPr/>
          <p:nvPr/>
        </p:nvSpPr>
        <p:spPr>
          <a:xfrm>
            <a:off x="7388352" y="2103120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0E5A4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7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9792" y="2194560"/>
            <a:ext cx="219456" cy="219456"/>
          </a:xfrm>
          <a:prstGeom prst="rect">
            <a:avLst/>
          </a:prstGeom>
        </p:spPr>
      </p:pic>
      <p:sp>
        <p:nvSpPr>
          <p:cNvPr id="68" name="Text 55"/>
          <p:cNvSpPr/>
          <p:nvPr/>
        </p:nvSpPr>
        <p:spPr>
          <a:xfrm>
            <a:off x="7772400" y="21488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response</a:t>
            </a:r>
            <a:endParaRPr lang="en-US" sz="1000" dirty="0"/>
          </a:p>
        </p:txBody>
      </p:sp>
      <p:sp>
        <p:nvSpPr>
          <p:cNvPr id="69" name="Text 56"/>
          <p:cNvSpPr/>
          <p:nvPr/>
        </p:nvSpPr>
        <p:spPr>
          <a:xfrm>
            <a:off x="7772400" y="2432304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· actions</a:t>
            </a:r>
            <a:endParaRPr lang="en-US" sz="850" dirty="0"/>
          </a:p>
        </p:txBody>
      </p:sp>
      <p:sp>
        <p:nvSpPr>
          <p:cNvPr id="70" name="Shape 57"/>
          <p:cNvSpPr/>
          <p:nvPr/>
        </p:nvSpPr>
        <p:spPr>
          <a:xfrm>
            <a:off x="7388352" y="3054096"/>
            <a:ext cx="1572768" cy="841248"/>
          </a:xfrm>
          <a:prstGeom prst="roundRect">
            <a:avLst>
              <a:gd name="adj" fmla="val 6522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1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79792" y="3145536"/>
            <a:ext cx="219456" cy="219456"/>
          </a:xfrm>
          <a:prstGeom prst="rect">
            <a:avLst/>
          </a:prstGeom>
        </p:spPr>
      </p:pic>
      <p:sp>
        <p:nvSpPr>
          <p:cNvPr id="72" name="Text 58"/>
          <p:cNvSpPr/>
          <p:nvPr/>
        </p:nvSpPr>
        <p:spPr>
          <a:xfrm>
            <a:off x="7772400" y="309981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Post-mortem</a:t>
            </a:r>
            <a:endParaRPr lang="en-US" sz="1000" dirty="0"/>
          </a:p>
        </p:txBody>
      </p:sp>
      <p:sp>
        <p:nvSpPr>
          <p:cNvPr id="73" name="Text 59"/>
          <p:cNvSpPr/>
          <p:nvPr/>
        </p:nvSpPr>
        <p:spPr>
          <a:xfrm>
            <a:off x="7772400" y="33832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· learning</a:t>
            </a:r>
            <a:endParaRPr lang="en-US" sz="850" dirty="0"/>
          </a:p>
        </p:txBody>
      </p:sp>
      <p:sp>
        <p:nvSpPr>
          <p:cNvPr id="74" name="Text 60"/>
          <p:cNvSpPr/>
          <p:nvPr/>
        </p:nvSpPr>
        <p:spPr>
          <a:xfrm>
            <a:off x="365760" y="4160520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Infrastructure:  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 artifacts</a:t>
            </a:r>
            <a:r>
              <a:rPr lang="en-US" sz="1050" dirty="0">
                <a:solidFill>
                  <a:srgbClr val="3D4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logs</a:t>
            </a:r>
            <a:r>
              <a:rPr lang="en-US" sz="1050" dirty="0">
                <a:solidFill>
                  <a:srgbClr val="3D4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local run</a:t>
            </a:r>
            <a:r>
              <a:rPr lang="en-US" sz="1050" dirty="0">
                <a:solidFill>
                  <a:srgbClr val="3D4D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0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 mode</a:t>
            </a:r>
            <a:endParaRPr lang="en-US" sz="1050" dirty="0"/>
          </a:p>
        </p:txBody>
      </p:sp>
      <p:sp>
        <p:nvSpPr>
          <p:cNvPr id="75" name="Text 61"/>
          <p:cNvSpPr/>
          <p:nvPr/>
        </p:nvSpPr>
        <p:spPr>
          <a:xfrm>
            <a:off x="640080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   </a:t>
            </a:r>
            <a:r>
              <a:rPr lang="en-US" sz="100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  </a:t>
            </a:r>
            <a:r>
              <a:rPr lang="en-US" sz="10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0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   ·   5 / 7</a:t>
            </a:r>
            <a:endParaRPr lang="en-US" sz="9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65760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8680" y="2743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E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868680" y="8412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7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streaming alert becomes a P1 escalation — end to end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298448"/>
            <a:ext cx="310896" cy="31089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22D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11480" y="12984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68680" y="131673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PITER dashboard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Live alert stream in the dark NOC console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66928" y="1627632"/>
            <a:ext cx="0" cy="164592"/>
          </a:xfrm>
          <a:prstGeom prst="line">
            <a:avLst/>
          </a:prstGeom>
          <a:noFill/>
          <a:ln w="12700">
            <a:solidFill>
              <a:srgbClr val="3D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11480" y="1810512"/>
            <a:ext cx="310896" cy="31089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11480" y="1810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68680" y="18288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Replication-lag alert lands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wallet-service DB lag crosses threshold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66928" y="2139696"/>
            <a:ext cx="0" cy="164592"/>
          </a:xfrm>
          <a:prstGeom prst="line">
            <a:avLst/>
          </a:prstGeom>
          <a:noFill/>
          <a:ln w="12700">
            <a:solidFill>
              <a:srgbClr val="3D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411480" y="2322576"/>
            <a:ext cx="310896" cy="31089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60A5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11480" y="2322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68680" y="2340864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PITER about the alert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Agent starts the five-stage workflow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66928" y="2651760"/>
            <a:ext cx="0" cy="164592"/>
          </a:xfrm>
          <a:prstGeom prst="line">
            <a:avLst/>
          </a:prstGeom>
          <a:noFill/>
          <a:ln w="12700">
            <a:solidFill>
              <a:srgbClr val="3D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411480" y="2834640"/>
            <a:ext cx="310896" cy="31089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114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868680" y="2852928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retrieval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Runbook + a similar past incident from the KB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66928" y="3163824"/>
            <a:ext cx="0" cy="164592"/>
          </a:xfrm>
          <a:prstGeom prst="line">
            <a:avLst/>
          </a:prstGeom>
          <a:noFill/>
          <a:ln w="12700">
            <a:solidFill>
              <a:srgbClr val="3D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411480" y="3346704"/>
            <a:ext cx="310896" cy="31089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11480" y="33467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868680" y="3364992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calls (MCP)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Recent-deploys Lambda finds wallet-service v4.12.3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66928" y="3675888"/>
            <a:ext cx="0" cy="164592"/>
          </a:xfrm>
          <a:prstGeom prst="line">
            <a:avLst/>
          </a:prstGeom>
          <a:noFill/>
          <a:ln w="12700">
            <a:solidFill>
              <a:srgbClr val="3D4D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4"/>
          <p:cNvSpPr/>
          <p:nvPr/>
        </p:nvSpPr>
        <p:spPr>
          <a:xfrm>
            <a:off x="411480" y="3858768"/>
            <a:ext cx="310896" cy="310896"/>
          </a:xfrm>
          <a:prstGeom prst="ellipse">
            <a:avLst/>
          </a:prstGeom>
          <a:solidFill>
            <a:srgbClr val="111A2E"/>
          </a:solidFill>
          <a:ln w="15875">
            <a:solidFill>
              <a:srgbClr val="F871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11480" y="38587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68680" y="3877056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escalation + response  </a:t>
            </a: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Live SMS/email fires, structured answer with cause, actions, owner.</a:t>
            </a:r>
          </a:p>
        </p:txBody>
      </p:sp>
      <p:sp>
        <p:nvSpPr>
          <p:cNvPr id="30" name="Shape 27"/>
          <p:cNvSpPr/>
          <p:nvPr/>
        </p:nvSpPr>
        <p:spPr>
          <a:xfrm>
            <a:off x="5897880" y="1298448"/>
            <a:ext cx="2880360" cy="3017520"/>
          </a:xfrm>
          <a:prstGeom prst="roundRect">
            <a:avLst>
              <a:gd name="adj" fmla="val 1905"/>
            </a:avLst>
          </a:prstGeom>
          <a:solidFill>
            <a:srgbClr val="0D1526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6080760" y="14447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EE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shown live</a:t>
            </a:r>
            <a:endParaRPr lang="en-US" sz="1250" dirty="0"/>
          </a:p>
        </p:txBody>
      </p:sp>
      <p:pic>
        <p:nvPicPr>
          <p:cNvPr id="3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1828800"/>
            <a:ext cx="182880" cy="182880"/>
          </a:xfrm>
          <a:prstGeom prst="rect">
            <a:avLst/>
          </a:prstGeom>
        </p:spPr>
      </p:pic>
      <p:sp>
        <p:nvSpPr>
          <p:cNvPr id="33" name="Text 29"/>
          <p:cNvSpPr/>
          <p:nvPr/>
        </p:nvSpPr>
        <p:spPr>
          <a:xfrm>
            <a:off x="6355080" y="181051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web application</a:t>
            </a:r>
            <a:endParaRPr lang="en-US" sz="1100" dirty="0"/>
          </a:p>
        </p:txBody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212848"/>
            <a:ext cx="182880" cy="18288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6355080" y="21945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over documents</a:t>
            </a:r>
            <a:endParaRPr lang="en-US" sz="11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596896"/>
            <a:ext cx="182880" cy="18288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355080" y="25786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/ MCP usage</a:t>
            </a:r>
            <a:endParaRPr lang="en-US" sz="1100" dirty="0"/>
          </a:p>
        </p:txBody>
      </p:sp>
      <p:pic>
        <p:nvPicPr>
          <p:cNvPr id="38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2980944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6355080" y="296265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/ JSON structured data</a:t>
            </a:r>
            <a:endParaRPr lang="en-US" sz="110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364992"/>
            <a:ext cx="182880" cy="182880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355080" y="334670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structured response</a:t>
            </a:r>
            <a:endParaRPr lang="en-US" sz="1100" dirty="0"/>
          </a:p>
        </p:txBody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0760" y="3749040"/>
            <a:ext cx="182880" cy="182880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6355080" y="37307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in Docker</a:t>
            </a:r>
            <a:endParaRPr lang="en-US" sz="1100" dirty="0"/>
          </a:p>
        </p:txBody>
      </p:sp>
      <p:sp>
        <p:nvSpPr>
          <p:cNvPr id="44" name="Text 35"/>
          <p:cNvSpPr/>
          <p:nvPr/>
        </p:nvSpPr>
        <p:spPr>
          <a:xfrm>
            <a:off x="6080760" y="416052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 keeps the demo alive even if AWS misbehaves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0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next steps   ·   6 / 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EF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Challenges &amp; next steps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743200" cy="3310128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216152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1188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 well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0352" y="1645920"/>
            <a:ext cx="24140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agent flow: alert → RAG → tools → structured PITER answer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Demo correlation: deploy → replication lag → similar past incident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escalation: preview first, real SNS/SES only on P1 confirm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fallback keeps the system answering without AWS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46120" y="1051560"/>
            <a:ext cx="2743200" cy="3310128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0712" y="12161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76472" y="1188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challenging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10712" y="1645920"/>
            <a:ext cx="2414016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path: AgentCore Gateway vs classic action groups 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control - an idle OpenSearch collection caused unexpected charges. moved to S3 Vectors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KB ingestion: structuring CSV/JSON so retrieval stays precise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tuning - strict enough to block unsafe actions, loose enough to not reject legitimate incident questions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safety - agent reads and recommends. business impact requires human confirmation</a:t>
            </a:r>
          </a:p>
        </p:txBody>
      </p:sp>
      <p:sp>
        <p:nvSpPr>
          <p:cNvPr id="13" name="Shape 9"/>
          <p:cNvSpPr/>
          <p:nvPr/>
        </p:nvSpPr>
        <p:spPr>
          <a:xfrm>
            <a:off x="6126480" y="1051560"/>
            <a:ext cx="2743200" cy="3310128"/>
          </a:xfrm>
          <a:prstGeom prst="roundRect">
            <a:avLst>
              <a:gd name="adj" fmla="val 2000"/>
            </a:avLst>
          </a:prstGeom>
          <a:solidFill>
            <a:srgbClr val="111A2E"/>
          </a:solidFill>
          <a:ln w="9525">
            <a:solidFill>
              <a:srgbClr val="2433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072" y="1216152"/>
            <a:ext cx="274320" cy="27432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56832" y="1188720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version</a:t>
            </a:r>
            <a:endParaRPr lang="en-US" sz="1350" dirty="0"/>
          </a:p>
        </p:txBody>
      </p:sp>
      <p:sp>
        <p:nvSpPr>
          <p:cNvPr id="16" name="Text 11"/>
          <p:cNvSpPr/>
          <p:nvPr/>
        </p:nvSpPr>
        <p:spPr>
          <a:xfrm>
            <a:off x="6291072" y="1615440"/>
            <a:ext cx="2487168" cy="2715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architecture - specialist agents for triage, investigation, and comms, coordinated by a supervisor agent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Slack-native operations - alerts, PITER answers, and approvals directly in the on-call channel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+ Confluence integration - auto-open incident tickets, link runbooks, draft post-mortems into the wiki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Customer-impact correlation - match alerts against support complaints to detect customer-facing impact early</a:t>
            </a: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monitoring feeds instead of simulated alerts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65760" y="449884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B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" y="0"/>
            <a:ext cx="9143771" cy="68580"/>
          </a:xfrm>
          <a:prstGeom prst="rect">
            <a:avLst/>
          </a:prstGeom>
          <a:solidFill>
            <a:srgbClr val="22D3EE">
              <a:alpha val="65000"/>
            </a:srgbClr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Aptos"/>
            </a:endParaRPr>
          </a:p>
        </p:txBody>
      </p:sp>
      <p:sp>
        <p:nvSpPr>
          <p:cNvPr id="3" name="Text 1"/>
          <p:cNvSpPr/>
          <p:nvPr/>
        </p:nvSpPr>
        <p:spPr>
          <a:xfrm>
            <a:off x="548640" y="651510"/>
            <a:ext cx="308610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3200" b="1" dirty="0">
                <a:solidFill>
                  <a:srgbClr val="F8FAFC"/>
                </a:solidFill>
                <a:latin typeface="Aptos"/>
              </a:rPr>
              <a:t>Thank you</a:t>
            </a:r>
            <a:endParaRPr lang="en-US" sz="32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9214" y="1200150"/>
            <a:ext cx="30861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sz="1050" dirty="0">
                <a:solidFill>
                  <a:srgbClr val="A7B4C8"/>
                </a:solidFill>
                <a:latin typeface="Aptos"/>
              </a:rPr>
              <a:t>I appreciate your time and feedback.</a:t>
            </a:r>
            <a:endParaRPr lang="en-US" sz="105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82930" y="1680210"/>
            <a:ext cx="3497580" cy="1748790"/>
          </a:xfrm>
          <a:prstGeom prst="roundRect">
            <a:avLst>
              <a:gd name="adj" fmla="val 3137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Aptos"/>
            </a:endParaRPr>
          </a:p>
        </p:txBody>
      </p:sp>
      <p:sp>
        <p:nvSpPr>
          <p:cNvPr id="6" name="Text 4"/>
          <p:cNvSpPr/>
          <p:nvPr/>
        </p:nvSpPr>
        <p:spPr>
          <a:xfrm>
            <a:off x="822960" y="1885950"/>
            <a:ext cx="2400300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defTabSz="685800"/>
            <a:r>
              <a:rPr lang="en-US" b="1" dirty="0">
                <a:solidFill>
                  <a:srgbClr val="22D3EE"/>
                </a:solidFill>
                <a:latin typeface="Aptos"/>
              </a:rPr>
              <a:t>PITER AiOps</a:t>
            </a:r>
            <a:endParaRPr lang="en-US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2960" y="2208276"/>
            <a:ext cx="28117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defTabSz="685800"/>
            <a:r>
              <a:rPr lang="en-US" sz="800" dirty="0">
                <a:solidFill>
                  <a:srgbClr val="A7B4C8"/>
                </a:solidFill>
                <a:latin typeface="Aptos"/>
              </a:rPr>
              <a:t>Priority  |  Investigation  |  Triage  |  Escalation  |  Resolution</a:t>
            </a:r>
            <a:endParaRPr lang="en-US" sz="8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8" name="Text 6"/>
          <p:cNvSpPr/>
          <p:nvPr/>
        </p:nvSpPr>
        <p:spPr>
          <a:xfrm>
            <a:off x="822960" y="2551176"/>
            <a:ext cx="2743200" cy="22631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defTabSz="685800"/>
            <a:r>
              <a:rPr lang="en-US" sz="1000" dirty="0">
                <a:solidFill>
                  <a:srgbClr val="F8FAFC"/>
                </a:solidFill>
                <a:latin typeface="Aptos"/>
              </a:rPr>
              <a:t>Live demo repo, LinkedIn and contact details are on the right.</a:t>
            </a:r>
            <a:endParaRPr lang="en-US" sz="10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9" name="Text 7"/>
          <p:cNvSpPr/>
          <p:nvPr/>
        </p:nvSpPr>
        <p:spPr>
          <a:xfrm>
            <a:off x="822960" y="2983230"/>
            <a:ext cx="2880360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defTabSz="685800"/>
            <a:r>
              <a:rPr lang="en-US" sz="800" dirty="0">
                <a:solidFill>
                  <a:srgbClr val="A7B4C8"/>
                </a:solidFill>
                <a:latin typeface="Aptos"/>
              </a:rPr>
              <a:t>Email: reem.mor3@gmail.com</a:t>
            </a:r>
            <a:endParaRPr lang="en-US" sz="8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26280" y="1508760"/>
            <a:ext cx="1508760" cy="1748790"/>
          </a:xfrm>
          <a:prstGeom prst="roundRect">
            <a:avLst>
              <a:gd name="adj" fmla="val 3636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Aptos"/>
            </a:endParaRPr>
          </a:p>
        </p:txBody>
      </p:sp>
      <p:pic>
        <p:nvPicPr>
          <p:cNvPr id="11" name="Image 0" descr="/mnt/data/github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6310" y="1748790"/>
            <a:ext cx="1028700" cy="10287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45736" y="2894076"/>
            <a:ext cx="106299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b="1" dirty="0">
                <a:solidFill>
                  <a:srgbClr val="F8FAFC"/>
                </a:solidFill>
                <a:latin typeface="Aptos"/>
              </a:rPr>
              <a:t>GitHub repo</a:t>
            </a:r>
            <a:endParaRPr lang="en-US" sz="9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412230" y="1508760"/>
            <a:ext cx="1508760" cy="1748790"/>
          </a:xfrm>
          <a:prstGeom prst="roundRect">
            <a:avLst>
              <a:gd name="adj" fmla="val 3636"/>
            </a:avLst>
          </a:prstGeom>
          <a:solidFill>
            <a:srgbClr val="0D1421"/>
          </a:solidFill>
          <a:ln w="12700">
            <a:solidFill>
              <a:srgbClr val="26364F"/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Aptos"/>
            </a:endParaRPr>
          </a:p>
        </p:txBody>
      </p:sp>
      <p:pic>
        <p:nvPicPr>
          <p:cNvPr id="14" name="Image 1" descr="/mnt/data/linkedin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260" y="1748790"/>
            <a:ext cx="1028700" cy="10287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52260" y="2894076"/>
            <a:ext cx="1028700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900" b="1" dirty="0">
                <a:solidFill>
                  <a:srgbClr val="F8FAFC"/>
                </a:solidFill>
                <a:latin typeface="Aptos"/>
              </a:rPr>
              <a:t>LinkedIn</a:t>
            </a:r>
            <a:endParaRPr lang="en-US" sz="9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16" name="Shape 12"/>
          <p:cNvSpPr/>
          <p:nvPr/>
        </p:nvSpPr>
        <p:spPr>
          <a:xfrm>
            <a:off x="3655314" y="3819906"/>
            <a:ext cx="1845129" cy="595342"/>
          </a:xfrm>
          <a:prstGeom prst="roundRect">
            <a:avLst>
              <a:gd name="adj" fmla="val 25000"/>
            </a:avLst>
          </a:prstGeom>
          <a:solidFill>
            <a:srgbClr val="0B1220"/>
          </a:solidFill>
          <a:ln w="12700">
            <a:solidFill>
              <a:srgbClr val="22D3EE">
                <a:alpha val="90000"/>
              </a:srgbClr>
            </a:solidFill>
            <a:prstDash val="solid"/>
          </a:ln>
        </p:spPr>
        <p:txBody>
          <a:bodyPr/>
          <a:lstStyle/>
          <a:p>
            <a:pPr defTabSz="685800"/>
            <a:endParaRPr lang="en-US" sz="1600">
              <a:solidFill>
                <a:prstClr val="black"/>
              </a:solidFill>
              <a:latin typeface="Aptos"/>
            </a:endParaRPr>
          </a:p>
        </p:txBody>
      </p:sp>
      <p:sp>
        <p:nvSpPr>
          <p:cNvPr id="17" name="Text 13"/>
          <p:cNvSpPr/>
          <p:nvPr/>
        </p:nvSpPr>
        <p:spPr>
          <a:xfrm>
            <a:off x="3847337" y="3960494"/>
            <a:ext cx="1447201" cy="2503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defTabSz="685800"/>
            <a:r>
              <a:rPr lang="en-US" sz="1600" b="1" dirty="0">
                <a:solidFill>
                  <a:srgbClr val="22D3EE"/>
                </a:solidFill>
                <a:latin typeface="Aptos"/>
              </a:rPr>
              <a:t>Any questions?</a:t>
            </a:r>
            <a:endParaRPr lang="en-US" sz="1600" dirty="0">
              <a:solidFill>
                <a:prstClr val="black"/>
              </a:solidFill>
              <a:latin typeface="Aptos"/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502DA90C-83AD-C169-61EB-5297BFAB999A}"/>
              </a:ext>
            </a:extLst>
          </p:cNvPr>
          <p:cNvSpPr/>
          <p:nvPr/>
        </p:nvSpPr>
        <p:spPr>
          <a:xfrm>
            <a:off x="365760" y="4814316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PITER AI  ·  AI-Augmented Software Engineering — mid-course project</a:t>
            </a:r>
            <a:endParaRPr lang="en-US" sz="900" dirty="0"/>
          </a:p>
        </p:txBody>
      </p:sp>
      <p:sp>
        <p:nvSpPr>
          <p:cNvPr id="24" name="Text 1">
            <a:extLst>
              <a:ext uri="{FF2B5EF4-FFF2-40B4-BE49-F238E27FC236}">
                <a16:creationId xmlns:a16="http://schemas.microsoft.com/office/drawing/2014/main" id="{0F8025E8-9ED0-BD29-317A-66DF9434E1C8}"/>
              </a:ext>
            </a:extLst>
          </p:cNvPr>
          <p:cNvSpPr/>
          <p:nvPr/>
        </p:nvSpPr>
        <p:spPr>
          <a:xfrm>
            <a:off x="6400800" y="4814316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Thank you ·   7 / 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837</TotalTime>
  <Words>1036</Words>
  <Application>Microsoft Office PowerPoint</Application>
  <PresentationFormat>On-screen Show (16:9)</PresentationFormat>
  <Paragraphs>158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Trebuchet MS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PITER AI — mid-course project</dc:title>
  <dc:subject>PptxGenJS Presentation</dc:subject>
  <dc:creator>Re'em Mor</dc:creator>
  <cp:lastModifiedBy>Re'Em Mor</cp:lastModifiedBy>
  <cp:revision>10</cp:revision>
  <dcterms:created xsi:type="dcterms:W3CDTF">2026-06-07T20:28:13Z</dcterms:created>
  <dcterms:modified xsi:type="dcterms:W3CDTF">2026-06-10T11:34:32Z</dcterms:modified>
</cp:coreProperties>
</file>